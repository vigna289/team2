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ReconX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FC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Trade Reconciliation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Avani  ·  Vigna  ·  Nandini  ·  Shubhang  ·  Gaurav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TDI 2026 Advanced Track — Deutsche Bank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buSzPct val="100000"/>
              <a:buChar char="▪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teams reconcile thousands of trades a day against custodian and counterparty feeds — largely by hand</a:t>
            </a:r>
            <a:endParaRPr lang="en-US" sz="1800" dirty="0"/>
          </a:p>
          <a:p>
            <a:pPr marL="228600" indent="-228600">
              <a:lnSpc>
                <a:spcPct val="125000"/>
              </a:lnSpc>
              <a:buSzPct val="100000"/>
              <a:buChar char="▪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Mismatches surface late, after settlement risk has already built up, and cost real money to unwind</a:t>
            </a:r>
            <a:endParaRPr lang="en-US" sz="1800" dirty="0"/>
          </a:p>
          <a:p>
            <a:pPr marL="228600" indent="-228600">
              <a:lnSpc>
                <a:spcPct val="125000"/>
              </a:lnSpc>
              <a:buSzPct val="100000"/>
              <a:buChar char="▪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ReconX auto-detects breaks in near-real-time so Ops resolves them, not discovers them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92240" y="164592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246888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undetected break can sit unresolved for a full settlement cycle. Automated, streaming reconciliation turns a next-day discovery into a same-minute alert.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ReconX  ·  2/10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C4 Container View</a:t>
            </a:r>
            <a:endParaRPr lang="en-US" sz="3200" dirty="0"/>
          </a:p>
        </p:txBody>
      </p:sp>
      <p:pic>
        <p:nvPicPr>
          <p:cNvPr id="3" name="Image 0" descr="docs/images/c4-contai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17320"/>
            <a:ext cx="3227832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737360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 UI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Vite, live SSE feed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recon-service API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25 + Spring Boot 3, JWT + RBAC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Engine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match + break detection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955280" y="173736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Liquibase-managed schema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topics + DLQ per topic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Scrapes /actuator/prometheus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ReconX  ·  3/10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— by Layer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17520" y="169164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· Liquibase migrations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265176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25 · Spring Boot 3 · Spring Security (JWT/RBAC)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1188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361188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 · 3 topics · DLQ per topic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7200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457200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Vite · Server-Sent Events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53212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553212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· Grafana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ReconX  ·  4/10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Login &amp; Post a Trade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buSzPct val="100000"/>
              <a:buChar char="▪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as trader@db.com — JWT issued, role-checked</a:t>
            </a:r>
            <a:endParaRPr lang="en-US" sz="1800" dirty="0"/>
          </a:p>
          <a:p>
            <a:pPr marL="228600" indent="-228600">
              <a:lnSpc>
                <a:spcPct val="125000"/>
              </a:lnSpc>
              <a:buSzPct val="100000"/>
              <a:buChar char="▪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new trade from the Recon UI</a:t>
            </a:r>
            <a:endParaRPr lang="en-US" sz="1800" dirty="0"/>
          </a:p>
          <a:p>
            <a:pPr marL="228600" indent="-228600">
              <a:lnSpc>
                <a:spcPct val="125000"/>
              </a:lnSpc>
              <a:buSzPct val="100000"/>
              <a:buChar char="▪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validated, persisted, and published to Kafka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92240" y="164592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6E5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24688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recording from rehearsal, pending capture (ADV163).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ReconX  ·  5/10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Kafka &amp; Auto-Reconciliation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buSzPct val="100000"/>
              <a:buChar char="▪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lands on the trade-events topic (Kafdrop)</a:t>
            </a:r>
            <a:endParaRPr lang="en-US" sz="1800" dirty="0"/>
          </a:p>
          <a:p>
            <a:pPr marL="228600" indent="-228600">
              <a:lnSpc>
                <a:spcPct val="125000"/>
              </a:lnSpc>
              <a:buSzPct val="100000"/>
              <a:buChar char="▪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engine consumes it and runs match logic</a:t>
            </a:r>
            <a:endParaRPr lang="en-US" sz="1800" dirty="0"/>
          </a:p>
          <a:p>
            <a:pPr marL="228600" indent="-228600">
              <a:lnSpc>
                <a:spcPct val="125000"/>
              </a:lnSpc>
              <a:buSzPct val="100000"/>
              <a:buChar char="▪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Grafana's request-rate panel ticks up in real time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92240" y="164592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6E5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24688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Kafdrop + Grafana screenshot, pending capture (ADV159).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ReconX  ·  6/10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3200" dirty="0"/>
          </a:p>
        </p:txBody>
      </p:sp>
      <p:pic>
        <p:nvPicPr>
          <p:cNvPr id="3" name="Image 0" descr="docs/images/cicd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11064240" cy="2788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JaCoCo coverage gate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Liquibase validate  ·  Docker build  ·  GHCR push on green main  ·  tag-triggered v1.0.0 rebuild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ReconX  ·  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buSzPct val="100000"/>
              <a:buChar char="▪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scrapes /actuator/prometheus every 15s</a:t>
            </a:r>
            <a:endParaRPr lang="en-US" sz="1800" dirty="0"/>
          </a:p>
          <a:p>
            <a:pPr marL="228600" indent="-228600">
              <a:lnSpc>
                <a:spcPct val="125000"/>
              </a:lnSpc>
              <a:buSzPct val="100000"/>
              <a:buChar char="▪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dashboards pre-provisioned (request rate, latency, break count)</a:t>
            </a:r>
            <a:endParaRPr lang="en-US" sz="1800" dirty="0"/>
          </a:p>
          <a:p>
            <a:pPr marL="228600" indent="-228600">
              <a:lnSpc>
                <a:spcPct val="125000"/>
              </a:lnSpc>
              <a:buSzPct val="100000"/>
              <a:buChar char="▪"/>
            </a:pPr>
            <a:r>
              <a:rPr lang="en-US" sz="18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skipped for this cohort per instructor guidance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92240" y="164592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note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24688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screenshots (ADV159) were explicitly marked optional/skip by the instructor for this cohort — not an open item.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ReconX  ·  8/10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88920" y="1691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6916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one-sentence takeaway (spoken live)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8775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Vigna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88920" y="258775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258775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one-sentence takeaway (spoken live)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8386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48386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Nandini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88920" y="348386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Kafka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48386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one-sentence takeaway (spoken live)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7997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7997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Shubhang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88920" y="437997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437997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one-sentence takeaway (spoken live)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7608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27608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Gaurav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788920" y="52760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/ CI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527608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one-sentence takeaway (spoken live)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ReconX  ·  9/10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github.com/&lt;org&gt;/reconx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Avani routes questions — "we didn't get to that" is a valid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2026-08-04T06:50:01Z</dcterms:created>
  <dcterms:modified xsi:type="dcterms:W3CDTF">2026-08-04T06:50:01Z</dcterms:modified>
</cp:coreProperties>
</file>